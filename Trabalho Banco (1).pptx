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bel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Abel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69e8a8ee_8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ec69e8a8ee_8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c69e8a8ee_8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69e8a8ee_8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c69e8a8ee_8_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c69e8a8ee_8_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69e8a8ee_8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ec69e8a8ee_8_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c69e8a8ee_8_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69e8a8ee_8_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c69e8a8ee_8_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c69e8a8ee_8_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69e8a8ee_8_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ec69e8a8ee_8_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c69e8a8ee_8_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c69e8a8ee_8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c69e8a8ee_8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c69e8a8ee_8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c69e8a8ee_8_1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c69e8a8ee_8_1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c69e8a8ee_8_1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c69e8a8ee_8_1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c69e8a8ee_8_1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c69e8a8ee_8_1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c69e8a8ee_8_1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ec69e8a8ee_8_1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c69e8a8ee_8_1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69e8a8ee_8_1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ec69e8a8ee_8_1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c69e8a8ee_8_1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c69e8a8ee_8_1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ec69e8a8ee_8_1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c69e8a8ee_8_1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>
            <p:ph type="title"/>
          </p:nvPr>
        </p:nvSpPr>
        <p:spPr>
          <a:xfrm>
            <a:off x="457200" y="594122"/>
            <a:ext cx="7770813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57200" y="594122"/>
            <a:ext cx="7770813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33400" y="1428750"/>
            <a:ext cx="7770813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▪"/>
              <a:defRPr/>
            </a:lvl2pPr>
            <a:lvl3pPr indent="-32004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1pPr>
            <a:lvl2pPr lvl="1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760"/>
              <a:buNone/>
              <a:defRPr/>
            </a:lvl3pPr>
            <a:lvl4pPr lvl="3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4pPr>
            <a:lvl5pPr lvl="4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5pPr>
            <a:lvl6pPr lvl="5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6pPr>
            <a:lvl7pPr lvl="6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7pPr>
            <a:lvl8pPr lvl="7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8pPr>
            <a:lvl9pPr lvl="8" algn="ctr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722313" y="2180037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594122"/>
            <a:ext cx="7770813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533400" y="1428752"/>
            <a:ext cx="3808413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302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494213" y="1428752"/>
            <a:ext cx="3810000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302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 sz="1800"/>
            </a:lvl4pPr>
            <a:lvl5pPr indent="-3429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3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57203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2004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4645029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7"/>
          <p:cNvSpPr txBox="1"/>
          <p:nvPr>
            <p:ph idx="4" type="body"/>
          </p:nvPr>
        </p:nvSpPr>
        <p:spPr>
          <a:xfrm>
            <a:off x="4645029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2004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4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575053" y="204790"/>
            <a:ext cx="5111751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5052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920"/>
              <a:buChar char="▪"/>
              <a:defRPr sz="2400"/>
            </a:lvl3pPr>
            <a:lvl4pPr indent="-355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57204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1792288" y="3600451"/>
            <a:ext cx="5486400" cy="42505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594122"/>
            <a:ext cx="7770813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 rot="5400000">
            <a:off x="2876352" y="-914202"/>
            <a:ext cx="3084910" cy="777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▪"/>
              <a:defRPr/>
            </a:lvl2pPr>
            <a:lvl3pPr indent="-32004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 rot="5400000">
            <a:off x="5364166" y="1573610"/>
            <a:ext cx="3919538" cy="1960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 rot="5400000">
            <a:off x="1364458" y="-313134"/>
            <a:ext cx="3919538" cy="5734051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▪"/>
              <a:defRPr/>
            </a:lvl2pPr>
            <a:lvl3pPr indent="-320040" lvl="2" marL="1371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1000" y="4393406"/>
            <a:ext cx="742950" cy="5691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gradFill>
            <a:gsLst>
              <a:gs pos="0">
                <a:srgbClr val="225A9D"/>
              </a:gs>
              <a:gs pos="50000">
                <a:srgbClr val="D9E7F7"/>
              </a:gs>
              <a:gs pos="100000">
                <a:srgbClr val="225A9D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oogle Shape;9;p1"/>
          <p:cNvGrpSpPr/>
          <p:nvPr/>
        </p:nvGrpSpPr>
        <p:grpSpPr>
          <a:xfrm>
            <a:off x="8750300" y="807244"/>
            <a:ext cx="352426" cy="265510"/>
            <a:chOff x="5512" y="678"/>
            <a:chExt cx="222" cy="223"/>
          </a:xfrm>
        </p:grpSpPr>
        <p:sp>
          <p:nvSpPr>
            <p:cNvPr id="10" name="Google Shape;10;p1"/>
            <p:cNvSpPr/>
            <p:nvPr/>
          </p:nvSpPr>
          <p:spPr>
            <a:xfrm>
              <a:off x="5566" y="678"/>
              <a:ext cx="101" cy="101"/>
            </a:xfrm>
            <a:prstGeom prst="rect">
              <a:avLst/>
            </a:prstGeom>
            <a:solidFill>
              <a:srgbClr val="4CB37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5633" y="745"/>
              <a:ext cx="101" cy="101"/>
            </a:xfrm>
            <a:prstGeom prst="rect">
              <a:avLst/>
            </a:prstGeom>
            <a:solidFill>
              <a:srgbClr val="225A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5512" y="800"/>
              <a:ext cx="101" cy="101"/>
            </a:xfrm>
            <a:prstGeom prst="rect">
              <a:avLst/>
            </a:prstGeom>
            <a:solidFill>
              <a:srgbClr val="AFDD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" name="Google Shape;13;p1"/>
          <p:cNvGrpSpPr/>
          <p:nvPr/>
        </p:nvGrpSpPr>
        <p:grpSpPr>
          <a:xfrm>
            <a:off x="47625" y="4733925"/>
            <a:ext cx="354013" cy="265509"/>
            <a:chOff x="30" y="3976"/>
            <a:chExt cx="223" cy="223"/>
          </a:xfrm>
        </p:grpSpPr>
        <p:sp>
          <p:nvSpPr>
            <p:cNvPr id="14" name="Google Shape;14;p1"/>
            <p:cNvSpPr/>
            <p:nvPr/>
          </p:nvSpPr>
          <p:spPr>
            <a:xfrm rot="10800000">
              <a:off x="97" y="4098"/>
              <a:ext cx="101" cy="101"/>
            </a:xfrm>
            <a:prstGeom prst="rect">
              <a:avLst/>
            </a:prstGeom>
            <a:solidFill>
              <a:srgbClr val="4CB37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30" y="4031"/>
              <a:ext cx="101" cy="101"/>
            </a:xfrm>
            <a:prstGeom prst="rect">
              <a:avLst/>
            </a:prstGeom>
            <a:solidFill>
              <a:srgbClr val="225A9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 rot="10800000">
              <a:off x="152" y="3976"/>
              <a:ext cx="101" cy="101"/>
            </a:xfrm>
            <a:prstGeom prst="rect">
              <a:avLst/>
            </a:prstGeom>
            <a:solidFill>
              <a:srgbClr val="AFDD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" name="Google Shape;17;p1"/>
          <p:cNvSpPr txBox="1"/>
          <p:nvPr/>
        </p:nvSpPr>
        <p:spPr>
          <a:xfrm>
            <a:off x="0" y="1085850"/>
            <a:ext cx="2438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381000" y="1600200"/>
            <a:ext cx="7772400" cy="275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1"/>
          <p:cNvSpPr txBox="1"/>
          <p:nvPr>
            <p:ph type="title"/>
          </p:nvPr>
        </p:nvSpPr>
        <p:spPr>
          <a:xfrm>
            <a:off x="457200" y="594122"/>
            <a:ext cx="7770813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225A9D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" type="body"/>
          </p:nvPr>
        </p:nvSpPr>
        <p:spPr>
          <a:xfrm>
            <a:off x="533400" y="1428750"/>
            <a:ext cx="7770813" cy="30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68300" lvl="0" marL="4572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bel"/>
              <a:buChar char="•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-368300" lvl="1" marL="9144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4CB371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-340360" lvl="2" marL="13716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AFDDBF"/>
              </a:buClr>
              <a:buSzPts val="176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-368300" lvl="3" marL="18288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•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-368300" lvl="4" marL="22860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»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-368300" lvl="5" marL="27432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»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-368300" lvl="6" marL="32004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»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-368300" lvl="7" marL="36576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»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-368300" lvl="8" marL="4114800" marR="0" rtl="0" algn="l">
              <a:lnSpc>
                <a:spcPct val="112000"/>
              </a:lnSpc>
              <a:spcBef>
                <a:spcPts val="550"/>
              </a:spcBef>
              <a:spcAft>
                <a:spcPts val="0"/>
              </a:spcAft>
              <a:buClr>
                <a:srgbClr val="225A9D"/>
              </a:buClr>
              <a:buSzPts val="2200"/>
              <a:buFont typeface="Abel"/>
              <a:buChar char="»"/>
              <a:defRPr b="0" i="0" sz="22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1" name="Google Shape;21;p1"/>
          <p:cNvSpPr/>
          <p:nvPr/>
        </p:nvSpPr>
        <p:spPr>
          <a:xfrm>
            <a:off x="0" y="728663"/>
            <a:ext cx="9144000" cy="57150"/>
          </a:xfrm>
          <a:prstGeom prst="rect">
            <a:avLst/>
          </a:prstGeom>
          <a:solidFill>
            <a:srgbClr val="4CB3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UNOESC CHAPECÓ  ·  BANCO DE DADOS 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40080" y="141732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4000"/>
              <a:buFont typeface="Calibri"/>
              <a:buNone/>
            </a:pPr>
            <a:r>
              <a:rPr b="1" i="0" lang="pt-BR" sz="400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Módulo G2 </a:t>
            </a:r>
            <a:r>
              <a:rPr b="1" lang="pt-BR" sz="4000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pt-BR" sz="400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Profissionais de Saúde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8368" y="26974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Trabalho final · Modelagem e implementação em 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58368" y="36118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53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r>
              <a:rPr b="1"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pt-BR" sz="1300" u="none" cap="none" strike="noStrike">
                <a:solidFill>
                  <a:srgbClr val="5BA5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Jackson Michel Hillesheim </a:t>
            </a:r>
            <a:r>
              <a:rPr lang="pt-BR" sz="13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Florêncio</a:t>
            </a: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· Leonardo Kowacic · João Marcos Stahl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58368" y="39502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Prof. Álvaro Gianni Pagliari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48640" y="960120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749808" y="1143000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945" y="127613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749808" y="1728216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 módulo G2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749808" y="1965960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Cadastro, consulta e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300984" y="960120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502152" y="1143000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5289" y="127613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3502152" y="1728216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Modelo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502152" y="1965960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Diagrama físico e relações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053328" y="960120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254496" y="1143000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7633" y="127613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6254496" y="1728216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Tabelas e normalização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254496" y="1965960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3ª Forma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48640" y="2459736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49808" y="2642616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945" y="2775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749808" y="3227832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Chaves PK e FK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49808" y="3465576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Integridade referencial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300984" y="2459736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3502152" y="2642616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5289" y="2775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3502152" y="3227832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View, procedure e trigger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502152" y="3465576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Objetos do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053328" y="2459736"/>
            <a:ext cx="2542032" cy="1298448"/>
          </a:xfrm>
          <a:prstGeom prst="roundRect">
            <a:avLst>
              <a:gd fmla="val 6338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254496" y="2642616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7633" y="277575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6254496" y="3227832"/>
            <a:ext cx="2139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254496" y="3465576"/>
            <a:ext cx="2139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Testes do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G2 · Profissionais de saúde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48640" y="1005840"/>
            <a:ext cx="566928" cy="566928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041" y="11532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/>
          <p:nvPr/>
        </p:nvSpPr>
        <p:spPr>
          <a:xfrm>
            <a:off x="1335024" y="969264"/>
            <a:ext cx="4288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Cadastro de profissionais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335024" y="1261872"/>
            <a:ext cx="4288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Nome, CRM, especialidade e contato. CRM único e validado.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041" y="20676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1335024" y="1883664"/>
            <a:ext cx="4288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Consulta por especialidade ou nome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1335024" y="2176272"/>
            <a:ext cx="4288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Facilita a seleção para agendamento.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041" y="298204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1335024" y="2798064"/>
            <a:ext cx="42885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Controle de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335024" y="3090672"/>
            <a:ext cx="4288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Ativo ou inativo; inativos não entram em agendamento.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897880" y="1005840"/>
            <a:ext cx="2697480" cy="2514600"/>
          </a:xfrm>
          <a:prstGeom prst="roundRect">
            <a:avLst>
              <a:gd fmla="val 3273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6153912" y="1243584"/>
            <a:ext cx="512064" cy="512064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7049" y="137672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6153912" y="1810512"/>
            <a:ext cx="2185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None/>
            </a:pPr>
            <a:r>
              <a:rPr b="1" i="0" lang="pt-BR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Integrações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153912" y="2139696"/>
            <a:ext cx="2185416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Fornece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Agenda (G3) · Consultas (G4)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pt-BR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Consome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Nenhum módulo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dados · Diagrama físico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548640" y="896112"/>
            <a:ext cx="3328416" cy="3328416"/>
          </a:xfrm>
          <a:prstGeom prst="roundRect">
            <a:avLst>
              <a:gd fmla="val 1923" name="adj"/>
            </a:avLst>
          </a:prstGeom>
          <a:solidFill>
            <a:srgbClr val="EEF3FB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005840"/>
            <a:ext cx="31089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/>
          <p:nvPr/>
        </p:nvSpPr>
        <p:spPr>
          <a:xfrm>
            <a:off x="4160520" y="10241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1700"/>
              <a:buFont typeface="Calibri"/>
              <a:buNone/>
            </a:pPr>
            <a:r>
              <a:rPr b="1" i="0" lang="pt-BR" sz="170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160520" y="167335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4407408" y="1581912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0" i="0" lang="pt-BR" sz="13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especialidade 1:N profissional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160520" y="217627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4407408" y="2084832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0" i="0" lang="pt-BR" sz="13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profissional 1:1 contato (UNIQUE na FK)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160520" y="267919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407408" y="2587752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0" i="0" lang="pt-BR" sz="13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PK, FK e UNIQUE definidos no schema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160520" y="318211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4407408" y="3090672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0" i="0" lang="pt-BR" sz="13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3ª Forma Normal, sem redundância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160520" y="374904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1" lang="pt-BR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Diagrama gerado por engenharia reversa no pgAdmin (PostgreSQL).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Tabelas e normalização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48640" y="1005840"/>
            <a:ext cx="4572000" cy="2331720"/>
          </a:xfrm>
          <a:prstGeom prst="roundRect">
            <a:avLst>
              <a:gd fmla="val 3137" name="adj"/>
            </a:avLst>
          </a:prstGeom>
          <a:solidFill>
            <a:srgbClr val="0E2742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713232" y="1124712"/>
            <a:ext cx="4242816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profissional 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id_profissional SERIAL PRIMARY KEY,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nome     VARCHAR(150)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crm      VARCHAR(20)  NOT NULL UNIQUE,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status   BOOLEAN NOT NULL DEFAULT TRUE,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id_especialidade INTEGER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data_cadastro TIMESTAMP DEFAULT now(),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(id_especialidade)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  REFERENCES especialidade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440680" y="107899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687568" y="98755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3 tabelas em 3ª Forma Normal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687568" y="125272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especialidade, profissional e contato, sem redundância.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440680" y="1837944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687568" y="1746504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Nomenclatura padronizada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687568" y="2011680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Sem acentuação e em snake_case, conforme a rubrica.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440680" y="2596896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687568" y="2505456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Cardinalidade explícita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687568" y="2770632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Relações 1:N e 1:1 por FK e UNIQUE.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440680" y="3355848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687568" y="3264408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Índice de busca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687568" y="3529584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Em profissional.nome, para a consulta por nome.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Chaves primárias e estrangeiras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48640" y="1005840"/>
            <a:ext cx="530352" cy="530352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32" y="114373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1298448" y="987552"/>
            <a:ext cx="7296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None/>
            </a:pPr>
            <a:r>
              <a:rPr b="1" i="0" lang="pt-BR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Chaves primárias (PK)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298448" y="1280160"/>
            <a:ext cx="7296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id_especialidade, id_profissional e id_contato — SERIAL.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48640" y="1783080"/>
            <a:ext cx="530352" cy="530352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32" y="192097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1298448" y="1764792"/>
            <a:ext cx="7296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None/>
            </a:pPr>
            <a:r>
              <a:rPr b="1" i="0" lang="pt-BR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Chaves estrangeiras (FK)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298448" y="2057400"/>
            <a:ext cx="7296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profissional → especialidade e contato → profissional.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48640" y="2560320"/>
            <a:ext cx="530352" cy="530352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32" y="269821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1298448" y="2542032"/>
            <a:ext cx="7296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None/>
            </a:pPr>
            <a:r>
              <a:rPr b="1" i="0" lang="pt-BR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Restrições UNIQUE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298448" y="2834640"/>
            <a:ext cx="7296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crm, especialidade.nome e contato.id_profissional (garante o 1:1).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8640" y="3337560"/>
            <a:ext cx="530352" cy="530352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32" y="347545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1298448" y="3319272"/>
            <a:ext cx="7296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50"/>
              <a:buFont typeface="Calibri"/>
              <a:buNone/>
            </a:pPr>
            <a:r>
              <a:rPr b="1" i="0" lang="pt-BR" sz="14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ON DELETE CASCADE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298448" y="3611880"/>
            <a:ext cx="7296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Em contato: ao remover um profissional, o contato sai junto.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Objeto 1 · View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48640" y="896112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77" y="102924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118872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2100"/>
              <a:buFont typeface="Courier New"/>
              <a:buNone/>
            </a:pPr>
            <a:r>
              <a:rPr b="1" i="0" lang="pt-BR" sz="2100" u="none" cap="none" strike="noStrike">
                <a:solidFill>
                  <a:srgbClr val="225A9D"/>
                </a:solidFill>
                <a:latin typeface="Courier New"/>
                <a:ea typeface="Courier New"/>
                <a:cs typeface="Courier New"/>
                <a:sym typeface="Courier New"/>
              </a:rPr>
              <a:t>vw_profissionais_ativos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48640" y="1536192"/>
            <a:ext cx="4709160" cy="2011680"/>
          </a:xfrm>
          <a:prstGeom prst="roundRect">
            <a:avLst>
              <a:gd fmla="val 3636" name="adj"/>
            </a:avLst>
          </a:prstGeom>
          <a:solidFill>
            <a:srgbClr val="0E2742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713232" y="1655064"/>
            <a:ext cx="4379976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vw_profissionais_ativos </a:t>
            </a: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p.id_profissional, p.nome, p.crm,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e.nome AS especialidade,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c.telefone, c.email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profissional 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especialidade e USING(...)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contato c USING(...)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p.status = TRUE;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577840" y="1682496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824728" y="1581912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Retorna apenas profissionais ativos (status = TRUE).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577840" y="235915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824728" y="2258568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Junta especialidade e contato em uma única linha.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577840" y="3035808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824728" y="2935224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Consumida pelos módulos Agenda (G3) e Consultas (G4).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577840" y="3712464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824728" y="3611880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Impede que inativos entrem em agendamento.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Objeto 2 · Stored procedure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48640" y="896112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77" y="102924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118872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2100"/>
              <a:buFont typeface="Courier New"/>
              <a:buNone/>
            </a:pPr>
            <a:r>
              <a:rPr b="1" i="0" lang="pt-BR" sz="2100" u="none" cap="none" strike="noStrike">
                <a:solidFill>
                  <a:srgbClr val="225A9D"/>
                </a:solidFill>
                <a:latin typeface="Courier New"/>
                <a:ea typeface="Courier New"/>
                <a:cs typeface="Courier New"/>
                <a:sym typeface="Courier New"/>
              </a:rPr>
              <a:t>sp_cadastrar_profissional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48640" y="1536192"/>
            <a:ext cx="4709160" cy="2331720"/>
          </a:xfrm>
          <a:prstGeom prst="roundRect">
            <a:avLst>
              <a:gd fmla="val 3137" name="adj"/>
            </a:avLst>
          </a:prstGeom>
          <a:solidFill>
            <a:srgbClr val="0E2742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13232" y="1655064"/>
            <a:ext cx="4379976" cy="2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CREATE PROCEDURE 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sp_cadastrar_profissional(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p_nome, p_crm, p_id_especialidade,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p_telefone, p_email )  AS $$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IF EXISTS (SELECT 1 FROM profissional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   WHERE crm = p_crm) THEN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  RAISE EXCEPTION 'CRM ja cadastrado';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END IF;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profissional (...);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INSERT INTO contato (...);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END; $$;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577840" y="1682496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824728" y="1581912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Cadastra profissional e contato em uma única transação.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577840" y="235915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824728" y="2258568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Bloqueia CRM duplicado antes de inserir.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577840" y="3035808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824728" y="2935224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Ponto único de entrada do cadastro.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Objeto 3 · Trigger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48640" y="896112"/>
            <a:ext cx="512064" cy="512064"/>
          </a:xfrm>
          <a:prstGeom prst="ellipse">
            <a:avLst/>
          </a:prstGeom>
          <a:solidFill>
            <a:srgbClr val="225A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77" y="102924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118872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2100"/>
              <a:buFont typeface="Courier New"/>
              <a:buNone/>
            </a:pPr>
            <a:r>
              <a:rPr b="1" i="0" lang="pt-BR" sz="2100" u="none" cap="none" strike="noStrike">
                <a:solidFill>
                  <a:srgbClr val="225A9D"/>
                </a:solidFill>
                <a:latin typeface="Courier New"/>
                <a:ea typeface="Courier New"/>
                <a:cs typeface="Courier New"/>
                <a:sym typeface="Courier New"/>
              </a:rPr>
              <a:t>trg_validar_crm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48640" y="1536192"/>
            <a:ext cx="4709160" cy="2514600"/>
          </a:xfrm>
          <a:prstGeom prst="roundRect">
            <a:avLst>
              <a:gd fmla="val 2909" name="adj"/>
            </a:avLst>
          </a:prstGeom>
          <a:solidFill>
            <a:srgbClr val="0E2742"/>
          </a:solidFill>
          <a:ln>
            <a:noFill/>
          </a:ln>
          <a:effectLst>
            <a:outerShdw blurRad="101600" rotWithShape="0" algn="bl" dir="5400000" dist="38100">
              <a:srgbClr val="1B2A41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13232" y="1655064"/>
            <a:ext cx="4379976" cy="2276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CREATE FUNCTION </a:t>
            </a: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fn_validar_crm()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RETURNS TRIGGER AS $$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FB2E6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7FB2E6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IF NEW.crm IS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   OR LENGTH(TRIM(NEW.crm)) = 0 THEN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  RAISE EXCEPTION 'CRM obrigatorio';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END IF;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  RETURN NEW;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DCE7F3"/>
                </a:solidFill>
                <a:latin typeface="Courier New"/>
                <a:ea typeface="Courier New"/>
                <a:cs typeface="Courier New"/>
                <a:sym typeface="Courier New"/>
              </a:rPr>
              <a:t>END; $$ LANGUAGE plpgsql;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8AAE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6E8AAE"/>
                </a:solidFill>
                <a:latin typeface="Courier New"/>
                <a:ea typeface="Courier New"/>
                <a:cs typeface="Courier New"/>
                <a:sym typeface="Courier New"/>
              </a:rPr>
              <a:t>-- BEFORE INSERT OR 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8AAE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6E8AAE"/>
                </a:solidFill>
                <a:latin typeface="Courier New"/>
                <a:ea typeface="Courier New"/>
                <a:cs typeface="Courier New"/>
                <a:sym typeface="Courier New"/>
              </a:rPr>
              <a:t>-- ON profissional FOR EACH 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577840" y="1682496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824728" y="1581912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Valida o CRM antes de cada INSERT e UPDATE.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577840" y="2359152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824728" y="2258568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Rejeita CRM nulo ou em branco.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577840" y="3035808"/>
            <a:ext cx="118872" cy="118872"/>
          </a:xfrm>
          <a:prstGeom prst="ellipse">
            <a:avLst/>
          </a:prstGeom>
          <a:solidFill>
            <a:srgbClr val="5BA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824728" y="2935224"/>
            <a:ext cx="2816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0" lang="pt-BR" sz="12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Complementa a restrição UNIQUE da coluna.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05156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987552" y="1033272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view retorna apenas profissionais 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05156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5102352" y="1033272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Não há profissional duplicado na 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7099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/>
          <p:nvPr/>
        </p:nvSpPr>
        <p:spPr>
          <a:xfrm>
            <a:off x="987552" y="1691640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Profissional inativo fica fora da 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7099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/>
          <p:nvPr/>
        </p:nvSpPr>
        <p:spPr>
          <a:xfrm>
            <a:off x="5102352" y="1691640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procedure bloqueia CRM duplicado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36829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987552" y="2350008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trigger bloqueia CRM vazio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36829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5102352" y="2350008"/>
            <a:ext cx="3493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 procedure grava o contato junto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48640" y="3429000"/>
            <a:ext cx="8046720" cy="548640"/>
          </a:xfrm>
          <a:prstGeom prst="roundRect">
            <a:avLst>
              <a:gd fmla="val 13333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777240" y="342900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Resultado:  </a:t>
            </a: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6 de 6 verificações aprovadas</a:t>
            </a:r>
            <a:r>
              <a:rPr lang="pt-BR" sz="13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script re-executável, validado no PostgreSQL.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5029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BANCO DE DADOS I · UNOESC CHAPECÓ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A9D"/>
              </a:buClr>
              <a:buSzPts val="5200"/>
              <a:buFont typeface="Calibri"/>
              <a:buNone/>
            </a:pPr>
            <a:r>
              <a:rPr b="1" i="0" lang="pt-BR" sz="5200" u="none" cap="none" strike="noStrike">
                <a:solidFill>
                  <a:srgbClr val="225A9D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658368" y="26974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Módulo G2 </a:t>
            </a:r>
            <a:r>
              <a:rPr lang="pt-BR" sz="1600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pt-BR" sz="16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Profissionais de Saúde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58368" y="34290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Jackson Michel Hillesheim </a:t>
            </a:r>
            <a:r>
              <a:rPr lang="pt-BR" sz="13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Florêncio</a:t>
            </a:r>
            <a:r>
              <a:rPr b="0" i="0" lang="pt-BR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· Leonardo Kowacic · João Marcos Stahl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